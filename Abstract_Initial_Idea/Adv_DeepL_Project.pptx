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6" r:id="rId2"/>
    <p:sldId id="284" r:id="rId3"/>
    <p:sldId id="274" r:id="rId4"/>
    <p:sldId id="278" r:id="rId5"/>
    <p:sldId id="279" r:id="rId6"/>
    <p:sldId id="281" r:id="rId7"/>
    <p:sldId id="282" r:id="rId8"/>
    <p:sldId id="286" r:id="rId9"/>
    <p:sldId id="285" r:id="rId10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443CD-A452-4E16-9F8E-1202DC111432}" type="datetimeFigureOut">
              <a:rPr lang="en-DK" smtClean="0"/>
              <a:t>14/10/2025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620F8-42FF-4BF5-A7EA-95DF7FEF7D4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85619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2C15-B783-8F9F-A58C-823386D2C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7F2C4-5364-B582-594E-84D079A72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16C1-4C0E-E58C-5CEF-F4CA8AFB1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453-D8BD-4485-A12F-D113F825629A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69212-71DF-33AD-A67C-2FEDE6DF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4BD0-61D7-1AB7-0217-0A165E24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0633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A2E1-354D-B855-0BE2-C7974E5D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D9BF0-8619-5D5E-E8E6-AA8234C95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ED8E0-7C0D-34F4-78CE-84688CC46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D7200-862C-400A-AD97-19456EF8D39E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3B75-A448-D48B-C020-3C09934F0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A4785-0413-B6BD-8EA1-9169ACBF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4758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10D1-B53A-A863-40DF-CA3F3DC3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7F32E-531F-6843-9A44-C34C70089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86115-7D2D-7DC3-1AC1-937095D39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C21A-7813-4291-A2C3-646DCB60EF9C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AD8DC-F5A1-2BB7-D803-856A9A3E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0C704-C913-48D7-D256-F9784587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66352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41F4-F5C5-6F94-97DC-04436B2A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232ED-3485-B971-CB64-84FEFC01E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8D678-EC8E-A0B3-CB06-67CD25D92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A6CF7-EA86-4894-7F50-6E604166A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8FC8B-F25F-464A-A475-7173E66E448B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5AA5D-4C92-AE1A-D70C-1A0BB3BC1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FD72A-DA18-C6FB-4DDB-6C9C4C233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423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F587-9828-C1C6-EB05-CB88BD97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719B7-2459-B482-5EDD-E3152BE7F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56A40-C4ED-E0A8-B43A-894B502F2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C3137-727D-253D-8B9C-D31980AAC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A1E746-BD09-9BC2-0A42-061ED7566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BA8680-194B-4352-5D96-B9BDACEC3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3013E-97A9-4617-BB84-6EE42FF5F969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EB87B-5B4C-1DF6-7CAF-88B5120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CB1748-956C-67A9-0E34-A9EFEB60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049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D60AD-D7A9-43D5-B099-C14679C0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93B91B-4866-2A31-B123-4A89E506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246A-33C3-49E6-A679-9ACCA11073CF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5FA0A-A4A0-34B8-5CBD-EE69990D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F0E8A-7B46-ADE5-9C06-E2020DF5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9569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4DF7E-C469-E527-C8E7-68FD5039A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2B68-9A33-4331-8B4A-B4F114F38BE6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17B38-D57C-FC28-E04F-C90958EC1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DC22B-7266-24A6-A3DD-4CD36302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2588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609F-FDDF-6E32-0959-EC619853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98467-83E6-BDA7-DF8D-8051AB70B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F34E9-A665-223F-30BD-5EE495F38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3439C-242F-7928-27FF-15252065A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F6A73-213A-4E7F-9FED-200E3544FF5E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193ED-1E08-6F2E-D96B-2422E625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FA2B6-44F4-2F99-9C5C-981B34FB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552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277B-7A79-CE7E-5D4C-71C8899E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FE9F1-AC7B-1433-CA9E-EB07BB6B6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1A9D6-45AB-DCF4-D63B-DF2127753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34E52-4BD3-EF1C-F86C-6144DE55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A72-77DC-4757-88FF-0DBB6606C815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32166-70D4-DFF4-4A92-F6CB04DE5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039F2-73F9-69A1-C701-402F9018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96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51F6-5936-62D2-2A95-B3AC7105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51DDD-6083-7C0A-5879-D7DFB020A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2A442-593D-9E2C-D9D3-473E9B3E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B425-BB39-4B6C-BFFD-69499AB732BD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3EF1E-5284-0C24-9C1A-3B18F29B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363FF-D6A8-8F3C-8EAE-0C3B7869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042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33F55-29E1-DD64-C016-ABE2F34AE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30C76-0DA4-B3CC-AC3C-582A2A9D5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4D031-A749-9447-562B-72BDC477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D81D4-7C78-420D-B40D-68196CBE0F04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0BDFF-DD33-C220-54C2-61C5A334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73EBE-E999-3FCE-78F6-DABB5440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7326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AF445-49B8-EEB9-8D5B-32CDB71E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C343E-BCD6-639C-3EA1-FC06657D4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CE80E-A175-38B2-0D43-447409F4D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3CAF2-4B84-4DB0-BAA2-D366FFAE6AB8}" type="datetime8">
              <a:rPr lang="en-DK" smtClean="0"/>
              <a:t>14/10/2025 00.22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C8363-4388-786F-9C66-665D51049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E9FE9-0B33-B8E1-459A-E72634764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38562-04B6-4AAA-828F-24E68003641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3281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9265-99F0-28F4-01E4-FFBC84A85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8750"/>
            <a:ext cx="9959502" cy="1325563"/>
          </a:xfrm>
        </p:spPr>
        <p:txBody>
          <a:bodyPr>
            <a:normAutofit/>
          </a:bodyPr>
          <a:lstStyle/>
          <a:p>
            <a:r>
              <a:rPr lang="en-US" b="1" dirty="0"/>
              <a:t>A transparent Mixture Of Experts Architecture For Sequence Level Routing</a:t>
            </a:r>
            <a:endParaRPr lang="en-DK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2F6DD-EB66-AFB8-A4B6-6105E11A3B2D}"/>
              </a:ext>
            </a:extLst>
          </p:cNvPr>
          <p:cNvSpPr txBox="1"/>
          <p:nvPr/>
        </p:nvSpPr>
        <p:spPr>
          <a:xfrm>
            <a:off x="838199" y="5248233"/>
            <a:ext cx="6671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Björn Pettersson – Exchange from University of Copenhagen,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Economics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628307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2C2F-7EDE-23B6-480E-78E68B0F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C8A5-7227-1CC5-536A-D653342D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8750"/>
            <a:ext cx="9959502" cy="1325563"/>
          </a:xfrm>
        </p:spPr>
        <p:txBody>
          <a:bodyPr>
            <a:norm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Mixture of experts, were a mixture of actual domain experts, not just token specialists?</a:t>
            </a:r>
            <a:endParaRPr lang="en-DK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0FEE5C-08EC-25FE-82BE-24B0B3223D1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What:</a:t>
            </a:r>
            <a:endParaRPr lang="en-DK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1A8FA-C95D-D71A-AC94-87BFE39A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2582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353B-8DEE-9EBD-773C-1139527A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DB1E-163C-AA77-F02B-BC35E6EE9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Why: </a:t>
            </a:r>
            <a:r>
              <a:rPr lang="en-US" dirty="0"/>
              <a:t>Alignment and modular potential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8BC93-1871-1DBD-1DF3-4771BBC0D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6715"/>
            <a:ext cx="8159885" cy="36218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potential: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we gather bad capabilities in some experts and modify routing on inference for better alignment similar to 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(cf. </a:t>
            </a:r>
            <a:r>
              <a:rPr lang="da-DK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Fayyaz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2025)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we more cheaply add, narrow expertise to a larger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narrow training of expert and then slight training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use that expert.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D03ED-A9D6-08BD-C5BB-E52CF069C12F}"/>
              </a:ext>
            </a:extLst>
          </p:cNvPr>
          <p:cNvSpPr txBox="1"/>
          <p:nvPr/>
        </p:nvSpPr>
        <p:spPr>
          <a:xfrm>
            <a:off x="838200" y="5648271"/>
            <a:ext cx="1007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Fayyaz, M., </a:t>
            </a:r>
            <a:r>
              <a:rPr lang="en-DK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Modarressi</a:t>
            </a:r>
            <a:r>
              <a:rPr lang="en-D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DK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Deilamsalehy</a:t>
            </a:r>
            <a:r>
              <a:rPr lang="en-D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</a:t>
            </a:r>
            <a:r>
              <a:rPr lang="en-DK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Dernoncourt</a:t>
            </a:r>
            <a:r>
              <a:rPr lang="en-D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Rossi, R., Bui, T., ...</a:t>
            </a:r>
          </a:p>
          <a:p>
            <a:r>
              <a:rPr lang="en-D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Peng, N. (2025). Steering </a:t>
            </a:r>
            <a:r>
              <a:rPr lang="en-DK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MoE</a:t>
            </a:r>
            <a:r>
              <a:rPr lang="en-D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LLMs via Expert (De) Activation. </a:t>
            </a:r>
            <a:r>
              <a:rPr lang="en-DK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D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</a:p>
          <a:p>
            <a:r>
              <a:rPr lang="en-D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https://arxiv.org/abs/2509.09660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8B1B1A-B5D5-4A5A-AEF3-A28DEA2E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0556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F1F5-5DE6-9E98-BCF3-65B04A04E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How: </a:t>
            </a:r>
            <a:r>
              <a:rPr lang="en-US" dirty="0"/>
              <a:t>could we create domain experts?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30A00-EAF2-3CE8-AAFD-4AE56A311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6379" cy="342731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(SOTA weak experts) Sequence level routing: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sequence level routing instead of token level routing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(Proposal) + Narrow pretraining of experts: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pretrain the experts on different narrow subtasks and initialize using those weights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5D26A39-6740-C603-9E60-B30D6308FDB5}"/>
              </a:ext>
            </a:extLst>
          </p:cNvPr>
          <p:cNvCxnSpPr/>
          <p:nvPr/>
        </p:nvCxnSpPr>
        <p:spPr>
          <a:xfrm flipH="1">
            <a:off x="8161506" y="2461098"/>
            <a:ext cx="10311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1C5744C-3AF9-ABD9-8533-497EAAED0078}"/>
              </a:ext>
            </a:extLst>
          </p:cNvPr>
          <p:cNvSpPr txBox="1"/>
          <p:nvPr/>
        </p:nvSpPr>
        <p:spPr>
          <a:xfrm>
            <a:off x="9245330" y="2276432"/>
            <a:ext cx="21084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weak topic specialization Fan et al. (2024)</a:t>
            </a:r>
            <a:endParaRPr lang="en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619192-4FC1-CB04-9AD0-34E490B85EEF}"/>
              </a:ext>
            </a:extLst>
          </p:cNvPr>
          <p:cNvCxnSpPr/>
          <p:nvPr/>
        </p:nvCxnSpPr>
        <p:spPr>
          <a:xfrm flipH="1">
            <a:off x="8108814" y="3693173"/>
            <a:ext cx="10311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66561E-A82F-EBFB-C0C8-89129E5CF97A}"/>
              </a:ext>
            </a:extLst>
          </p:cNvPr>
          <p:cNvSpPr txBox="1"/>
          <p:nvPr/>
        </p:nvSpPr>
        <p:spPr>
          <a:xfrm>
            <a:off x="9192638" y="3508507"/>
            <a:ext cx="2108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</a:t>
            </a:r>
            <a:endParaRPr lang="en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F152B9-B2B9-AFD9-0D0E-61B5D2085817}"/>
              </a:ext>
            </a:extLst>
          </p:cNvPr>
          <p:cNvSpPr txBox="1"/>
          <p:nvPr/>
        </p:nvSpPr>
        <p:spPr>
          <a:xfrm>
            <a:off x="838200" y="5648271"/>
            <a:ext cx="7838872" cy="474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DK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Fan, D., Messmer, B., &amp; Jaggi, M. (2024). Towards an empirical understanding of </a:t>
            </a:r>
            <a:r>
              <a:rPr lang="en-DK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MoE</a:t>
            </a:r>
            <a:r>
              <a:rPr lang="en-US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DK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choices. </a:t>
            </a:r>
            <a:r>
              <a:rPr lang="en-DK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DK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https://doi.org/10.48550/arXiv.2402.13089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34B89D2-9507-33A6-B181-9DE72CA7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99423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E7E07-FA30-A096-34DA-2A11AEC1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Questions:</a:t>
            </a:r>
            <a:endParaRPr lang="en-DK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AB85B-D578-57B3-D48B-9829D2635058}"/>
              </a:ext>
            </a:extLst>
          </p:cNvPr>
          <p:cNvSpPr txBox="1"/>
          <p:nvPr/>
        </p:nvSpPr>
        <p:spPr>
          <a:xfrm>
            <a:off x="946014" y="2174770"/>
            <a:ext cx="8956743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DK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sequence-level routing combined with pretraining strengthen domain expertise?</a:t>
            </a:r>
            <a:endParaRPr lang="en-US" sz="2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DK" sz="2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DK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well does pretraining predict expert routing in large </a:t>
            </a:r>
            <a:r>
              <a:rPr lang="en-DK" sz="2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MoEs</a:t>
            </a:r>
            <a:r>
              <a:rPr lang="en-DK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DK" sz="2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DK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outcomes differ between narrow vs. broad tasks?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4BA78B-8F50-E9B5-F709-EDC5D6D9A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3578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200D-640A-40F8-4568-246102D0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4D61-AD4A-72F6-0242-58542452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Project Objectives:</a:t>
            </a:r>
            <a:endParaRPr lang="en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A986-4DAC-7CA9-1647-1A6D28BC9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66106" cy="4351338"/>
          </a:xfrm>
        </p:spPr>
        <p:txBody>
          <a:bodyPr/>
          <a:lstStyle/>
          <a:p>
            <a:endParaRPr lang="en-US" dirty="0"/>
          </a:p>
          <a:p>
            <a:endParaRPr lang="en-DK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0AAF37-DD20-958B-0E3D-65833CFBC1D6}"/>
              </a:ext>
            </a:extLst>
          </p:cNvPr>
          <p:cNvSpPr txBox="1">
            <a:spLocks/>
          </p:cNvSpPr>
          <p:nvPr/>
        </p:nvSpPr>
        <p:spPr>
          <a:xfrm>
            <a:off x="990599" y="1978025"/>
            <a:ext cx="857168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 Control experiment: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a smaller version of Fan et Al, try to reproduce weak specialization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P: Intervention experiment: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 setup as (C) but with the addition of initialization of experts to pretrained narrow weights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effect of (P) on a smaller scale. Further discussion about, what expert initializations may collapse or separate more easily during general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and under what circumstances. Experiments with limiting how much initialized weights can change during general training.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6441A-5FFB-84CA-D8D9-C3D6C8AE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7765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371E-D77E-A5C9-1D8B-E83AD3A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9FAEABD-FC5A-E4AA-B745-5ABCDB53CD59}"/>
              </a:ext>
            </a:extLst>
          </p:cNvPr>
          <p:cNvGrpSpPr/>
          <p:nvPr/>
        </p:nvGrpSpPr>
        <p:grpSpPr>
          <a:xfrm>
            <a:off x="4370964" y="2231160"/>
            <a:ext cx="4151517" cy="3519385"/>
            <a:chOff x="5167277" y="1005231"/>
            <a:chExt cx="6904009" cy="585276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B287A1C-8AF6-C8FA-3D83-7D5EF5B53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8851" r="19281" b="31217"/>
            <a:stretch>
              <a:fillRect/>
            </a:stretch>
          </p:blipFill>
          <p:spPr>
            <a:xfrm>
              <a:off x="5167277" y="1005231"/>
              <a:ext cx="6904009" cy="289018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9EBBB95-2856-E6E2-C964-5ED0E1D7C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74" b="34497"/>
            <a:stretch>
              <a:fillRect/>
            </a:stretch>
          </p:blipFill>
          <p:spPr>
            <a:xfrm>
              <a:off x="5167277" y="3895414"/>
              <a:ext cx="6904009" cy="2962586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8EBEBC9-89A1-9F9D-3868-C6384EF2595C}"/>
              </a:ext>
            </a:extLst>
          </p:cNvPr>
          <p:cNvSpPr txBox="1"/>
          <p:nvPr/>
        </p:nvSpPr>
        <p:spPr>
          <a:xfrm>
            <a:off x="4417465" y="1690688"/>
            <a:ext cx="2412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Semantic topics</a:t>
            </a:r>
            <a:endParaRPr lang="en-DK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BFD7B9-A5B8-8045-24EB-0659386B057F}"/>
              </a:ext>
            </a:extLst>
          </p:cNvPr>
          <p:cNvSpPr txBox="1"/>
          <p:nvPr/>
        </p:nvSpPr>
        <p:spPr>
          <a:xfrm>
            <a:off x="3038315" y="2372591"/>
            <a:ext cx="1379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Token </a:t>
            </a:r>
          </a:p>
          <a:p>
            <a:r>
              <a:rPr lang="en-US" dirty="0"/>
              <a:t>level routing</a:t>
            </a:r>
            <a:endParaRPr lang="en-DK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751902-919B-4131-3511-384CED107A15}"/>
              </a:ext>
            </a:extLst>
          </p:cNvPr>
          <p:cNvSpPr txBox="1"/>
          <p:nvPr/>
        </p:nvSpPr>
        <p:spPr>
          <a:xfrm>
            <a:off x="3038315" y="4467958"/>
            <a:ext cx="1379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Sequence </a:t>
            </a:r>
          </a:p>
          <a:p>
            <a:r>
              <a:rPr lang="en-US" dirty="0"/>
              <a:t>level routing</a:t>
            </a:r>
            <a:endParaRPr lang="en-DK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61039F-519C-46BD-646D-4FA3FA92C2BF}"/>
              </a:ext>
            </a:extLst>
          </p:cNvPr>
          <p:cNvSpPr txBox="1"/>
          <p:nvPr/>
        </p:nvSpPr>
        <p:spPr>
          <a:xfrm>
            <a:off x="6643992" y="1690688"/>
            <a:ext cx="2412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Languages</a:t>
            </a:r>
            <a:endParaRPr lang="en-DK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8A9675-09A5-4C7B-54DC-4BF425C705A6}"/>
              </a:ext>
            </a:extLst>
          </p:cNvPr>
          <p:cNvSpPr txBox="1"/>
          <p:nvPr/>
        </p:nvSpPr>
        <p:spPr>
          <a:xfrm>
            <a:off x="3808401" y="5971403"/>
            <a:ext cx="627918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2">
                    <a:lumMod val="75000"/>
                  </a:schemeClr>
                </a:solidFill>
              </a:rPr>
              <a:t>Towards an empirical understanding of </a:t>
            </a:r>
            <a:r>
              <a:rPr lang="en-US" sz="1500" dirty="0" err="1">
                <a:solidFill>
                  <a:schemeClr val="bg2">
                    <a:lumMod val="75000"/>
                  </a:schemeClr>
                </a:solidFill>
              </a:rPr>
              <a:t>MoE</a:t>
            </a:r>
            <a:r>
              <a:rPr lang="en-US" sz="1500" dirty="0">
                <a:solidFill>
                  <a:schemeClr val="bg2">
                    <a:lumMod val="75000"/>
                  </a:schemeClr>
                </a:solidFill>
              </a:rPr>
              <a:t> design choices (Fan et al)</a:t>
            </a:r>
            <a:endParaRPr lang="en-DK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A9D71E-D2D1-D17E-0FBD-DCD0231461BE}"/>
              </a:ext>
            </a:extLst>
          </p:cNvPr>
          <p:cNvSpPr/>
          <p:nvPr/>
        </p:nvSpPr>
        <p:spPr>
          <a:xfrm>
            <a:off x="4370963" y="4016535"/>
            <a:ext cx="1932561" cy="1737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3912779E-41AB-46FD-D8C2-372E00C6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Appendix: </a:t>
            </a:r>
            <a:r>
              <a:rPr lang="en-US" dirty="0"/>
              <a:t>Reference paper results</a:t>
            </a:r>
            <a:endParaRPr lang="en-DK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F0423BC9-4D22-4F1B-9BBE-EF05A58A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8979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91C6D-2DD0-1F4D-DBFE-23D7F488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8</a:t>
            </a:fld>
            <a:endParaRPr lang="en-DK"/>
          </a:p>
        </p:txBody>
      </p:sp>
      <p:sp>
        <p:nvSpPr>
          <p:cNvPr id="5" name="Title 28">
            <a:extLst>
              <a:ext uri="{FF2B5EF4-FFF2-40B4-BE49-F238E27FC236}">
                <a16:creationId xmlns:a16="http://schemas.microsoft.com/office/drawing/2014/main" id="{E85E6B90-5675-4ED4-ED7D-0CB736EA6CD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Appendix: </a:t>
            </a:r>
            <a:r>
              <a:rPr lang="en-US"/>
              <a:t>Reference paper results</a:t>
            </a: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7DF69-1DE0-AAB8-83FA-A053331281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74" b="34497"/>
          <a:stretch>
            <a:fillRect/>
          </a:stretch>
        </p:blipFill>
        <p:spPr>
          <a:xfrm>
            <a:off x="897139" y="2125191"/>
            <a:ext cx="8807742" cy="37794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F1D1C8-45A3-1363-3545-167840E8038F}"/>
              </a:ext>
            </a:extLst>
          </p:cNvPr>
          <p:cNvSpPr txBox="1"/>
          <p:nvPr/>
        </p:nvSpPr>
        <p:spPr>
          <a:xfrm>
            <a:off x="1197610" y="1845868"/>
            <a:ext cx="2412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Semantic topics</a:t>
            </a:r>
            <a:endParaRPr lang="en-D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50A98-D53A-7068-5C68-79CADF7A7E19}"/>
              </a:ext>
            </a:extLst>
          </p:cNvPr>
          <p:cNvSpPr txBox="1"/>
          <p:nvPr/>
        </p:nvSpPr>
        <p:spPr>
          <a:xfrm>
            <a:off x="5661499" y="1836141"/>
            <a:ext cx="2412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Languages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78544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E41F-E1EC-662F-ED7D-1852D3C3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6466DC55-BB9F-3F85-8C04-285B13F9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Appendix: </a:t>
            </a:r>
            <a:r>
              <a:rPr lang="en-US" dirty="0"/>
              <a:t>Initial experiments</a:t>
            </a: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4F7607-3E59-016D-A98B-87E4D340C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835893"/>
            <a:ext cx="8763000" cy="38671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D6863-08D5-7175-309F-D0CBA0E0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8562-04B6-4AAA-828F-24E680036413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1816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441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A transparent Mixture Of Experts Architecture For Sequence Level Routing</vt:lpstr>
      <vt:lpstr>What if Mixture of experts, were a mixture of actual domain experts, not just token specialists?</vt:lpstr>
      <vt:lpstr>Why: Alignment and modular potential</vt:lpstr>
      <vt:lpstr>How: could we create domain experts?</vt:lpstr>
      <vt:lpstr>Research Questions:</vt:lpstr>
      <vt:lpstr>Proposed Project Objectives:</vt:lpstr>
      <vt:lpstr>Appendix: Reference paper results</vt:lpstr>
      <vt:lpstr>PowerPoint Presentation</vt:lpstr>
      <vt:lpstr>Appendix: Initial 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Björn Olov Rikard Pettersson</dc:creator>
  <cp:lastModifiedBy>Björn Olov Rikard Pettersson</cp:lastModifiedBy>
  <cp:revision>5</cp:revision>
  <cp:lastPrinted>2025-10-13T15:31:06Z</cp:lastPrinted>
  <dcterms:created xsi:type="dcterms:W3CDTF">2025-10-13T02:20:31Z</dcterms:created>
  <dcterms:modified xsi:type="dcterms:W3CDTF">2025-10-14T06:39:53Z</dcterms:modified>
</cp:coreProperties>
</file>